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74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2" r:id="rId18"/>
    <p:sldId id="273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0" name="Shape 10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5"/>
          <p:cNvSpPr txBox="1"/>
          <p:nvPr/>
        </p:nvSpPr>
        <p:spPr>
          <a:xfrm>
            <a:off x="1763806" y="1232517"/>
            <a:ext cx="8664387" cy="978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32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Edge AI: Enabling Real-Time Intelligence on IoT Devices (PPT Content)</a:t>
            </a:r>
          </a:p>
        </p:txBody>
      </p:sp>
      <p:sp>
        <p:nvSpPr>
          <p:cNvPr id="103" name="TextBox 10"/>
          <p:cNvSpPr txBox="1"/>
          <p:nvPr/>
        </p:nvSpPr>
        <p:spPr>
          <a:xfrm>
            <a:off x="1417938" y="2696201"/>
            <a:ext cx="9709712" cy="253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180473" indent="-180473">
              <a:lnSpc>
                <a:spcPct val="150000"/>
              </a:lnSpc>
              <a:buSzPct val="100000"/>
              <a:buFontTx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u="sng" dirty="0"/>
              <a:t>Seminar</a:t>
            </a:r>
            <a:r>
              <a:rPr lang="en-IN" dirty="0"/>
              <a:t> </a:t>
            </a:r>
            <a:r>
              <a:rPr lang="en-IN" u="sng" dirty="0"/>
              <a:t>Title</a:t>
            </a:r>
            <a:r>
              <a:rPr lang="en-IN" dirty="0"/>
              <a:t>: </a:t>
            </a:r>
            <a:r>
              <a:rPr lang="en-US" b="1" dirty="0"/>
              <a:t>Edge AI: Enabling Real-Time Intelligence on IoT Devices</a:t>
            </a:r>
            <a:endParaRPr lang="en-IN" b="1" dirty="0"/>
          </a:p>
          <a:p>
            <a:pPr marL="180473" indent="-180473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/>
              <a:t>Student</a:t>
            </a:r>
            <a:r>
              <a:rPr dirty="0"/>
              <a:t> </a:t>
            </a:r>
            <a:r>
              <a:rPr u="sng" dirty="0"/>
              <a:t>Name</a:t>
            </a:r>
            <a:r>
              <a:rPr dirty="0"/>
              <a:t>: </a:t>
            </a:r>
            <a:r>
              <a:rPr lang="en-US" b="1" dirty="0" err="1"/>
              <a:t>Gandrakoti</a:t>
            </a:r>
            <a:r>
              <a:rPr lang="en-US" b="1" dirty="0"/>
              <a:t> Dinesh </a:t>
            </a:r>
            <a:endParaRPr b="1" dirty="0"/>
          </a:p>
          <a:p>
            <a:pPr marL="180473" indent="-180473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/>
              <a:t>Roll</a:t>
            </a:r>
            <a:r>
              <a:rPr dirty="0"/>
              <a:t> </a:t>
            </a:r>
            <a:r>
              <a:rPr u="sng" dirty="0"/>
              <a:t>Number</a:t>
            </a:r>
            <a:r>
              <a:rPr dirty="0"/>
              <a:t>: </a:t>
            </a:r>
            <a:r>
              <a:rPr lang="en-US" b="1" dirty="0"/>
              <a:t>22EG105N21</a:t>
            </a:r>
            <a:endParaRPr b="1" dirty="0"/>
          </a:p>
          <a:p>
            <a:pPr marL="180473" indent="-180473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/>
              <a:t>Branch</a:t>
            </a:r>
            <a:r>
              <a:rPr dirty="0"/>
              <a:t> &amp; </a:t>
            </a:r>
            <a:r>
              <a:rPr u="sng" dirty="0"/>
              <a:t>Year</a:t>
            </a:r>
            <a:r>
              <a:rPr dirty="0"/>
              <a:t>: CSE - </a:t>
            </a:r>
            <a:r>
              <a:rPr b="1" dirty="0"/>
              <a:t>4th year</a:t>
            </a:r>
          </a:p>
          <a:p>
            <a:pPr marL="180473" indent="-180473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/>
              <a:t>Guide</a:t>
            </a:r>
            <a:r>
              <a:rPr dirty="0"/>
              <a:t> </a:t>
            </a:r>
            <a:r>
              <a:rPr u="sng" dirty="0"/>
              <a:t>Name</a:t>
            </a:r>
            <a:r>
              <a:rPr dirty="0"/>
              <a:t>, </a:t>
            </a:r>
            <a:r>
              <a:rPr u="sng" dirty="0"/>
              <a:t>Designation</a:t>
            </a:r>
            <a:r>
              <a:rPr dirty="0"/>
              <a:t>: </a:t>
            </a:r>
            <a:r>
              <a:rPr lang="en-US" b="1" dirty="0"/>
              <a:t>Dr .</a:t>
            </a:r>
            <a:r>
              <a:rPr lang="en-US" b="1" dirty="0" err="1"/>
              <a:t>N.Swapna</a:t>
            </a:r>
            <a:r>
              <a:rPr lang="en-US" b="1" dirty="0"/>
              <a:t> Goud</a:t>
            </a:r>
            <a:r>
              <a:rPr b="1" dirty="0"/>
              <a:t>, Assistant Professor</a:t>
            </a:r>
            <a:r>
              <a:rPr dirty="0"/>
              <a:t> </a:t>
            </a:r>
          </a:p>
          <a:p>
            <a:pPr marL="180473" indent="-180473">
              <a:lnSpc>
                <a:spcPct val="150000"/>
              </a:lnSpc>
              <a:buSzPct val="100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/>
              <a:t>Date</a:t>
            </a:r>
            <a:r>
              <a:rPr dirty="0"/>
              <a:t>: </a:t>
            </a:r>
            <a:r>
              <a:rPr lang="en-IN" b="1" dirty="0"/>
              <a:t>18-04</a:t>
            </a:r>
            <a:r>
              <a:rPr b="1" dirty="0"/>
              <a:t>-2026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4"/>
          <p:cNvSpPr txBox="1"/>
          <p:nvPr/>
        </p:nvSpPr>
        <p:spPr>
          <a:xfrm>
            <a:off x="1910584" y="2256330"/>
            <a:ext cx="8370832" cy="2523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 defTabSz="457200">
              <a:lnSpc>
                <a:spcPct val="150000"/>
              </a:lnSpc>
              <a:spcBef>
                <a:spcPts val="1200"/>
              </a:spcBef>
              <a:defRPr sz="1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Edge AI combines Artificial Intelligence with Edge Computing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Processes data closer to IoT devices instead of cloud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Reduces latency and improves response time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Enables real-time decision making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Used in smart devices like cameras, sensors, wearables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Supports intelligent automation in modern systems</a:t>
            </a:r>
          </a:p>
        </p:txBody>
      </p:sp>
      <p:sp>
        <p:nvSpPr>
          <p:cNvPr id="110" name="TextBox 5"/>
          <p:cNvSpPr txBox="1"/>
          <p:nvPr/>
        </p:nvSpPr>
        <p:spPr>
          <a:xfrm>
            <a:off x="1981306" y="1454334"/>
            <a:ext cx="8665161" cy="44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3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Introduction: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D58CE-296D-501E-2347-3433EE7A7665}"/>
              </a:ext>
            </a:extLst>
          </p:cNvPr>
          <p:cNvSpPr txBox="1"/>
          <p:nvPr/>
        </p:nvSpPr>
        <p:spPr>
          <a:xfrm>
            <a:off x="2246777" y="400519"/>
            <a:ext cx="609600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4"/>
          <p:cNvSpPr txBox="1"/>
          <p:nvPr/>
        </p:nvSpPr>
        <p:spPr>
          <a:xfrm>
            <a:off x="1910584" y="1774550"/>
            <a:ext cx="8370832" cy="2523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 defTabSz="457200">
              <a:lnSpc>
                <a:spcPct val="150000"/>
              </a:lnSpc>
              <a:spcBef>
                <a:spcPts val="1200"/>
              </a:spcBef>
              <a:defRPr sz="1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generate huge amounts of data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processing causes delay and bandwidth issues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solves these problems by local processing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run directly on edge devices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system performance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real-time applications</a:t>
            </a:r>
          </a:p>
        </p:txBody>
      </p:sp>
      <p:sp>
        <p:nvSpPr>
          <p:cNvPr id="110" name="TextBox 5"/>
          <p:cNvSpPr txBox="1"/>
          <p:nvPr/>
        </p:nvSpPr>
        <p:spPr>
          <a:xfrm>
            <a:off x="1981306" y="1064713"/>
            <a:ext cx="8665161" cy="44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3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Introduction 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578462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 txBox="1"/>
          <p:nvPr/>
        </p:nvSpPr>
        <p:spPr>
          <a:xfrm>
            <a:off x="617480" y="889635"/>
            <a:ext cx="8966202" cy="1090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Problem Statement</a:t>
            </a:r>
            <a:endParaRPr sz="2400"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3" name="TextBox 1"/>
          <p:cNvSpPr txBox="1"/>
          <p:nvPr/>
        </p:nvSpPr>
        <p:spPr>
          <a:xfrm>
            <a:off x="2127119" y="2231874"/>
            <a:ext cx="7937763" cy="234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 defTabSz="457200">
              <a:lnSpc>
                <a:spcPct val="150000"/>
              </a:lnSpc>
              <a:spcBef>
                <a:spcPts val="12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2000" dirty="0"/>
              <a:t>Traditional IoT systems rely on cloud computing for data processing, which leads to high latency, bandwidth consumption, and security risks. Real-time applications require faster response and local intelligence. Hence, there is a need for Edge AI systems that can process data locally and provide real-time decision-making.</a:t>
            </a:r>
            <a:endParaRPr sz="2000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5"/>
          <p:cNvSpPr txBox="1"/>
          <p:nvPr/>
        </p:nvSpPr>
        <p:spPr>
          <a:xfrm>
            <a:off x="3500893" y="412266"/>
            <a:ext cx="5190214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Literature Survey</a:t>
            </a:r>
          </a:p>
        </p:txBody>
      </p:sp>
      <p:graphicFrame>
        <p:nvGraphicFramePr>
          <p:cNvPr id="116" name="Table 1"/>
          <p:cNvGraphicFramePr/>
          <p:nvPr>
            <p:extLst>
              <p:ext uri="{D42A27DB-BD31-4B8C-83A1-F6EECF244321}">
                <p14:modId xmlns:p14="http://schemas.microsoft.com/office/powerpoint/2010/main" val="2312160721"/>
              </p:ext>
            </p:extLst>
          </p:nvPr>
        </p:nvGraphicFramePr>
        <p:xfrm>
          <a:off x="358140" y="1990126"/>
          <a:ext cx="11355324" cy="305141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065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6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949"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50000"/>
                        </a:lnSpc>
                        <a:defRPr sz="1800"/>
                      </a:pPr>
                      <a:r>
                        <a:rPr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50000"/>
                        </a:lnSpc>
                        <a:defRPr sz="1800"/>
                      </a:pPr>
                      <a:r>
                        <a:rPr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 Focus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50000"/>
                        </a:lnSpc>
                        <a:defRPr sz="1800"/>
                      </a:pPr>
                      <a:r>
                        <a:rPr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Technologies Used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50000"/>
                        </a:lnSpc>
                        <a:defRPr sz="1800"/>
                      </a:pPr>
                      <a:r>
                        <a:rPr sz="14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Strengths</a:t>
                      </a:r>
                    </a:p>
                  </a:txBody>
                  <a:tcPr marL="12700" marR="12700" marT="12700" marB="12700" anchor="ctr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50000"/>
                        </a:lnSpc>
                        <a:defRPr sz="1800"/>
                      </a:pPr>
                      <a:r>
                        <a:rPr sz="1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</a:p>
                  </a:txBody>
                  <a:tcPr marL="12700" marR="12700" marT="12700" marB="127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76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 et al., 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computing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dge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IoT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AI Integration</a:t>
                      </a:r>
                    </a:p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37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 et al.,2020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+ 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762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et al., 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AL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+ IoT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37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AI in IoT applications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 + Edge + IoT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efficiency and reduces cloud dependency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 and device constraints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5"/>
          <p:cNvSpPr txBox="1"/>
          <p:nvPr/>
        </p:nvSpPr>
        <p:spPr>
          <a:xfrm>
            <a:off x="1907232" y="542510"/>
            <a:ext cx="605712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Existing System</a:t>
            </a:r>
          </a:p>
        </p:txBody>
      </p:sp>
      <p:sp>
        <p:nvSpPr>
          <p:cNvPr id="119" name="TextBox 1"/>
          <p:cNvSpPr txBox="1"/>
          <p:nvPr/>
        </p:nvSpPr>
        <p:spPr>
          <a:xfrm>
            <a:off x="954827" y="1770848"/>
            <a:ext cx="10282346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IoT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sent to centralized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done in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act as data collectors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constant internet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dependency on cloud infrastructure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5"/>
          <p:cNvSpPr txBox="1"/>
          <p:nvPr/>
        </p:nvSpPr>
        <p:spPr>
          <a:xfrm>
            <a:off x="2438174" y="393785"/>
            <a:ext cx="6057122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Existing System</a:t>
            </a:r>
          </a:p>
        </p:txBody>
      </p:sp>
      <p:sp>
        <p:nvSpPr>
          <p:cNvPr id="122" name="TextBox 1"/>
          <p:cNvSpPr txBox="1"/>
          <p:nvPr/>
        </p:nvSpPr>
        <p:spPr>
          <a:xfrm>
            <a:off x="2280782" y="2296540"/>
            <a:ext cx="7630436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in data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bandwidth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security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dependency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response for real-time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operational costs</a:t>
            </a:r>
          </a:p>
        </p:txBody>
      </p:sp>
      <p:sp>
        <p:nvSpPr>
          <p:cNvPr id="123" name="TextBox 5"/>
          <p:cNvSpPr txBox="1"/>
          <p:nvPr/>
        </p:nvSpPr>
        <p:spPr>
          <a:xfrm>
            <a:off x="2280782" y="1529042"/>
            <a:ext cx="2775312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3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2800" dirty="0"/>
              <a:t>Limitations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5"/>
          <p:cNvSpPr txBox="1"/>
          <p:nvPr/>
        </p:nvSpPr>
        <p:spPr>
          <a:xfrm>
            <a:off x="3774336" y="374076"/>
            <a:ext cx="4643328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Proposed</a:t>
            </a:r>
            <a:r>
              <a:rPr>
                <a:solidFill>
                  <a:srgbClr val="000000"/>
                </a:solidFill>
              </a:rPr>
              <a:t> </a:t>
            </a:r>
            <a:r>
              <a:t>System</a:t>
            </a:r>
          </a:p>
        </p:txBody>
      </p:sp>
      <p:sp>
        <p:nvSpPr>
          <p:cNvPr id="126" name="TextBox 4"/>
          <p:cNvSpPr txBox="1"/>
          <p:nvPr/>
        </p:nvSpPr>
        <p:spPr>
          <a:xfrm>
            <a:off x="2158999" y="2051041"/>
            <a:ext cx="7427596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AI-based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deployed on edge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data processing and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cloud 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intelligent system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5"/>
          <p:cNvSpPr txBox="1"/>
          <p:nvPr/>
        </p:nvSpPr>
        <p:spPr>
          <a:xfrm>
            <a:off x="3225799" y="276047"/>
            <a:ext cx="89662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3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3600" dirty="0">
                <a:solidFill>
                  <a:srgbClr val="FF0000"/>
                </a:solidFill>
              </a:rPr>
              <a:t>Working Principle</a:t>
            </a:r>
          </a:p>
        </p:txBody>
      </p:sp>
      <p:sp>
        <p:nvSpPr>
          <p:cNvPr id="130" name="TextBox 5"/>
          <p:cNvSpPr txBox="1"/>
          <p:nvPr/>
        </p:nvSpPr>
        <p:spPr>
          <a:xfrm>
            <a:off x="4874149" y="1336701"/>
            <a:ext cx="2443702" cy="44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3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sp>
        <p:nvSpPr>
          <p:cNvPr id="131" name="TextBox 4"/>
          <p:cNvSpPr txBox="1"/>
          <p:nvPr/>
        </p:nvSpPr>
        <p:spPr>
          <a:xfrm>
            <a:off x="1048853" y="2535991"/>
            <a:ext cx="2982373" cy="3046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Data Collection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collect real-time data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Decision Making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results and actions generated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806B1BA9-9781-C6F6-C5C8-D6039CE27E54}"/>
              </a:ext>
            </a:extLst>
          </p:cNvPr>
          <p:cNvSpPr txBox="1"/>
          <p:nvPr/>
        </p:nvSpPr>
        <p:spPr>
          <a:xfrm>
            <a:off x="4733492" y="2412881"/>
            <a:ext cx="2982373" cy="2800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Data Processing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 devices preprocess and filter data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5: Cloud Support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data sent to cloud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D45466DF-2376-4B45-1E03-6EC4A33ABF5D}"/>
              </a:ext>
            </a:extLst>
          </p:cNvPr>
          <p:cNvSpPr txBox="1"/>
          <p:nvPr/>
        </p:nvSpPr>
        <p:spPr>
          <a:xfrm>
            <a:off x="8418131" y="2412882"/>
            <a:ext cx="2982373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AI Analysis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analyze data locally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5"/>
          <p:cNvSpPr txBox="1"/>
          <p:nvPr/>
        </p:nvSpPr>
        <p:spPr>
          <a:xfrm>
            <a:off x="2433974" y="288150"/>
            <a:ext cx="6006589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Architecture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7D681-33E2-AB58-7400-F9F6D7FF56DE}"/>
              </a:ext>
            </a:extLst>
          </p:cNvPr>
          <p:cNvSpPr txBox="1"/>
          <p:nvPr/>
        </p:nvSpPr>
        <p:spPr>
          <a:xfrm>
            <a:off x="3140024" y="2029968"/>
            <a:ext cx="6098240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IoT Devices (Sensors)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Edge Devices (Processing Units)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Communication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Cloud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User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2C0C0-8F7D-651E-A8F5-9090EE823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" y="1335024"/>
            <a:ext cx="8796528" cy="482803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5"/>
          <p:cNvSpPr txBox="1"/>
          <p:nvPr/>
        </p:nvSpPr>
        <p:spPr>
          <a:xfrm>
            <a:off x="3149798" y="170238"/>
            <a:ext cx="4594546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TECHNOLOGY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10963-CFBD-71F5-353A-2C199429B326}"/>
              </a:ext>
            </a:extLst>
          </p:cNvPr>
          <p:cNvSpPr txBox="1"/>
          <p:nvPr/>
        </p:nvSpPr>
        <p:spPr>
          <a:xfrm>
            <a:off x="2296085" y="1905017"/>
            <a:ext cx="6098240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Edge Computing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Artificial Intelligence &amp;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IoT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Edge Hardware (GPU, NPU)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Communication Technologies (5G, Wi-Fi)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Analytics* Security Mechanisms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5"/>
          <p:cNvSpPr txBox="1"/>
          <p:nvPr/>
        </p:nvSpPr>
        <p:spPr>
          <a:xfrm>
            <a:off x="1612899" y="441087"/>
            <a:ext cx="89662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Software Tools</a:t>
            </a:r>
            <a:endParaRPr dirty="0"/>
          </a:p>
        </p:txBody>
      </p:sp>
      <p:sp>
        <p:nvSpPr>
          <p:cNvPr id="147" name="TextBox 4"/>
          <p:cNvSpPr txBox="1"/>
          <p:nvPr/>
        </p:nvSpPr>
        <p:spPr>
          <a:xfrm>
            <a:off x="1833773" y="1745171"/>
            <a:ext cx="10084312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Impulse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/ PyCharm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Docker* MQTT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5"/>
          <p:cNvSpPr txBox="1"/>
          <p:nvPr/>
        </p:nvSpPr>
        <p:spPr>
          <a:xfrm>
            <a:off x="4049420" y="460182"/>
            <a:ext cx="4093160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Advantages</a:t>
            </a:r>
            <a:endParaRPr dirty="0"/>
          </a:p>
        </p:txBody>
      </p:sp>
      <p:sp>
        <p:nvSpPr>
          <p:cNvPr id="150" name="TextBox 4"/>
          <p:cNvSpPr txBox="1"/>
          <p:nvPr/>
        </p:nvSpPr>
        <p:spPr>
          <a:xfrm>
            <a:off x="2064429" y="1613118"/>
            <a:ext cx="10537402" cy="2677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Real-time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Reduced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Lower bandwidth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Improved data privacy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Faster response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High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Reliable system performance</a:t>
            </a:r>
            <a:endParaRPr lang="en-IN" sz="2400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5"/>
          <p:cNvSpPr txBox="1"/>
          <p:nvPr/>
        </p:nvSpPr>
        <p:spPr>
          <a:xfrm>
            <a:off x="1612899" y="307424"/>
            <a:ext cx="89662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 Disadvantages</a:t>
            </a:r>
            <a:endParaRPr dirty="0"/>
          </a:p>
        </p:txBody>
      </p:sp>
      <p:sp>
        <p:nvSpPr>
          <p:cNvPr id="153" name="TextBox 4"/>
          <p:cNvSpPr txBox="1"/>
          <p:nvPr/>
        </p:nvSpPr>
        <p:spPr>
          <a:xfrm>
            <a:off x="1761607" y="1691009"/>
            <a:ext cx="8817494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processing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initial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at device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challenges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5"/>
          <p:cNvSpPr txBox="1"/>
          <p:nvPr/>
        </p:nvSpPr>
        <p:spPr>
          <a:xfrm>
            <a:off x="1612899" y="364708"/>
            <a:ext cx="89662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Applications</a:t>
            </a:r>
            <a:endParaRPr dirty="0"/>
          </a:p>
        </p:txBody>
      </p:sp>
      <p:sp>
        <p:nvSpPr>
          <p:cNvPr id="156" name="TextBox 4"/>
          <p:cNvSpPr txBox="1"/>
          <p:nvPr/>
        </p:nvSpPr>
        <p:spPr>
          <a:xfrm>
            <a:off x="1612899" y="1613118"/>
            <a:ext cx="9955236" cy="2677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(smart farming)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automation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C7579-8296-EB19-AD01-880A712F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5">
            <a:extLst>
              <a:ext uri="{FF2B5EF4-FFF2-40B4-BE49-F238E27FC236}">
                <a16:creationId xmlns:a16="http://schemas.microsoft.com/office/drawing/2014/main" id="{F7AB796D-53F5-118C-96A2-8E157F2915A7}"/>
              </a:ext>
            </a:extLst>
          </p:cNvPr>
          <p:cNvSpPr txBox="1"/>
          <p:nvPr/>
        </p:nvSpPr>
        <p:spPr>
          <a:xfrm>
            <a:off x="1612899" y="364708"/>
            <a:ext cx="896620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 Future Scope</a:t>
            </a:r>
            <a:endParaRPr dirty="0"/>
          </a:p>
        </p:txBody>
      </p:sp>
      <p:sp>
        <p:nvSpPr>
          <p:cNvPr id="156" name="TextBox 4">
            <a:extLst>
              <a:ext uri="{FF2B5EF4-FFF2-40B4-BE49-F238E27FC236}">
                <a16:creationId xmlns:a16="http://schemas.microsoft.com/office/drawing/2014/main" id="{1DB38507-FE52-FC6F-08AA-370958943562}"/>
              </a:ext>
            </a:extLst>
          </p:cNvPr>
          <p:cNvSpPr txBox="1"/>
          <p:nvPr/>
        </p:nvSpPr>
        <p:spPr>
          <a:xfrm>
            <a:off x="1612899" y="1613118"/>
            <a:ext cx="9955236" cy="2308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5G/6G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low-power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for privacy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edge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integration</a:t>
            </a:r>
          </a:p>
        </p:txBody>
      </p:sp>
    </p:spTree>
    <p:extLst>
      <p:ext uri="{BB962C8B-B14F-4D97-AF65-F5344CB8AC3E}">
        <p14:creationId xmlns:p14="http://schemas.microsoft.com/office/powerpoint/2010/main" val="84570564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5"/>
          <p:cNvSpPr txBox="1"/>
          <p:nvPr/>
        </p:nvSpPr>
        <p:spPr>
          <a:xfrm>
            <a:off x="7698265" y="1093193"/>
            <a:ext cx="3178999" cy="764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References</a:t>
            </a:r>
          </a:p>
        </p:txBody>
      </p:sp>
      <p:sp>
        <p:nvSpPr>
          <p:cNvPr id="159" name="TextBox 4"/>
          <p:cNvSpPr txBox="1"/>
          <p:nvPr/>
        </p:nvSpPr>
        <p:spPr>
          <a:xfrm>
            <a:off x="665194" y="2356027"/>
            <a:ext cx="5508134" cy="209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 defTabSz="457200">
              <a:lnSpc>
                <a:spcPct val="130000"/>
              </a:lnSpc>
              <a:spcBef>
                <a:spcPts val="12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Edge AI enables real-time intelligence in IoT systems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Reduces latency and improves efficiency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Enhances privacy and reduces cloud dependency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Supports multiple real-world applications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Future technology for smart and intelligent systems</a:t>
            </a:r>
          </a:p>
        </p:txBody>
      </p:sp>
      <p:sp>
        <p:nvSpPr>
          <p:cNvPr id="160" name="TextBox 5"/>
          <p:cNvSpPr txBox="1"/>
          <p:nvPr/>
        </p:nvSpPr>
        <p:spPr>
          <a:xfrm>
            <a:off x="1759797" y="1093193"/>
            <a:ext cx="3318928" cy="764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Conclusion</a:t>
            </a:r>
          </a:p>
        </p:txBody>
      </p:sp>
      <p:sp>
        <p:nvSpPr>
          <p:cNvPr id="161" name="TextBox 4"/>
          <p:cNvSpPr txBox="1"/>
          <p:nvPr/>
        </p:nvSpPr>
        <p:spPr>
          <a:xfrm>
            <a:off x="6331992" y="2356027"/>
            <a:ext cx="5508135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 et al., IEEE IoT Journal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 et al., IEEE Edge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Zhou et al., Edge AI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Lite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Edge AI Platforms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Text Box 2" descr="Text Box 2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414672" y="2861333"/>
            <a:ext cx="5517093" cy="1224234"/>
          </a:xfrm>
          <a:prstGeom prst="rect">
            <a:avLst/>
          </a:prstGeom>
          <a:effectLst>
            <a:outerShdw blurRad="88900" dist="158186" dir="2700000" rotWithShape="0">
              <a:srgbClr val="000000">
                <a:alpha val="90666"/>
              </a:srgbClr>
            </a:outerShdw>
          </a:effectLst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625</Words>
  <Application>Microsoft Office PowerPoint</Application>
  <PresentationFormat>Widescreen</PresentationFormat>
  <Paragraphs>157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HARIKRISHNA</dc:creator>
  <cp:lastModifiedBy>Santhoshini Tadakamalla</cp:lastModifiedBy>
  <cp:revision>49</cp:revision>
  <dcterms:modified xsi:type="dcterms:W3CDTF">2026-04-18T06:40:26Z</dcterms:modified>
</cp:coreProperties>
</file>